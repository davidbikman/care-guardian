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room: you're here because you care about both vulnerable people and good technology — this project lives exactly at that intersection. Read the tagline slowly. 'Cannot betray' is literal, not marketing — I'll show you why.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concrete and human. 11 million-plus unpaid caregivers. The data they hold is the most sensitive a person has — diagnoses, finances, legal decisions, a parent's decline. Pause on that last line; let the room feel it.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category runs the same playbook: harvest, breach, acquire. The cruelty is the last card — the person in the data has dementia and cannot consent or object. This is the injustice we exist to address.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claim, and your one-sentence reason to exist. 'Structurally incapable' is an architecture, not a promise: no server to breach, no data to sell, no telemetry to leak. Say it, then pause. Let it land.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De-risk hard. This is built and works today — a real installable app, not a prototype. Offer a live demo. Most pitches in this room are vapor; 'here's the working thing' is your advantage.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seriousness. Five security audits, HIPAA safeguards mapped, encryption at rest, lifecycle-tested. This level of rigor is rare for a tool this size and tells a funder we are not hobbyists.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Elevate from 'an app' to 'a standard.' The Privacy Principles are a citable, freely-adoptable document others can adopt — which makes us the reference point. This is the influence play, our #1 goal.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grow through credibility, not an ad budget — which is fortunate, since our values forbid the ad budget. Walk the four steps. Emphasize: influence first, reach as a consequence.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question every funder is silently asking — how does this survive without me funding it forever? Open-source core, paid hosting and support, funded state packages. We won't need you indefinitely. (~45s)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what we refuse to be is how a privacy promise stays credible. Not surveillance, not a data business, not VC-backed. This slide filters the room for the partners we actually want.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Disarm skepticism by raising the hard questions before they do. Have crisp answers ready for each. A team that names its own weaknesses is more trustworthy than one that claims none. (~60s)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forked ask. Lead with the non-money asks — introductions, a pilot partner, endorsement — because they de-risk us more than a check. Then deliverable-linked funding: invite them to fund ONE specific thing. Make it easy to say yes to a single item. (~60s)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human stakes. The vision is to become the reference standard — adopted, cited, forked — protecting families who never knew to ask whether their tools were safe. End here. (~30s)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126480" y="137160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TOOL FOR FAMILY CAREGIVERS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Guardian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A9B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that cannot betray the people it serves.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funder &amp; foundation brief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family caring for a parent with dementia is drowning.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million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Americans provide unpaid care for someone with dementia. They juggle medications, doctors, finances, legal documents, and a parent's slow decline — across siblings, aides, and clinicians who can't see the same picture.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they generate is the most sensitive a person has: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· medications · finances · legal decisions · the record of a parent's decline.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1C2B3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2057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11M+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26364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dementia caregivers in the U.S.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 human problem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category quietly betrays them.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Caregiving and health apps follow the same playbook — and the people in the data are least able to object.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928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1892808" cy="73152"/>
          </a:xfrm>
          <a:prstGeom prst="rect">
            <a:avLst/>
          </a:prstGeom>
          <a:solidFill>
            <a:srgbClr val="B5657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54203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Harvested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and health data collected, analyzed, and sold to third parties.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42032" y="2331720"/>
            <a:ext cx="18928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2331720"/>
            <a:ext cx="1892808" cy="73152"/>
          </a:xfrm>
          <a:prstGeom prst="rect">
            <a:avLst/>
          </a:prstGeom>
          <a:solidFill>
            <a:srgbClr val="B56576"/>
          </a:solidFill>
          <a:ln/>
        </p:spPr>
      </p:sp>
      <p:sp>
        <p:nvSpPr>
          <p:cNvPr id="11" name="Text 9"/>
          <p:cNvSpPr/>
          <p:nvPr/>
        </p:nvSpPr>
        <p:spPr>
          <a:xfrm>
            <a:off x="2706624" y="254203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Breached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06624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servers are a target; health breaches hit tens of millions yearly.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35424" y="2331720"/>
            <a:ext cx="18928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5424" y="2331720"/>
            <a:ext cx="1892808" cy="73152"/>
          </a:xfrm>
          <a:prstGeom prst="rect">
            <a:avLst/>
          </a:prstGeom>
          <a:solidFill>
            <a:srgbClr val="B56576"/>
          </a:solidFill>
          <a:ln/>
        </p:spPr>
      </p:sp>
      <p:sp>
        <p:nvSpPr>
          <p:cNvPr id="15" name="Text 13"/>
          <p:cNvSpPr/>
          <p:nvPr/>
        </p:nvSpPr>
        <p:spPr>
          <a:xfrm>
            <a:off x="4700016" y="254203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0016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becomes an asset to be sold when the company 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28816" y="2331720"/>
            <a:ext cx="18928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28816" y="2331720"/>
            <a:ext cx="1892808" cy="73152"/>
          </a:xfrm>
          <a:prstGeom prst="rect">
            <a:avLst/>
          </a:prstGeom>
          <a:solidFill>
            <a:srgbClr val="B56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254203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recourse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93408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with dementia cannot consent, object, or hold anyone to account.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Why this matters now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software that is </a:t>
            </a:r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C47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structurally incapable</a:t>
            </a:r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betraying its users.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9B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promise. An architecture.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66928" cy="566928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37592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639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breach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429000" y="3611880"/>
            <a:ext cx="566928" cy="566928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01" y="375928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0" y="3639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to sell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17920" y="3611880"/>
            <a:ext cx="566928" cy="566928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321" y="375928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3639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 to leak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 insight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built, and it works today.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installable Progressive Web App — usable on any phone or computer, fully offline, with no account to create.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892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3D7D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85800" y="3310128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not a prototype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42032" y="2377440"/>
            <a:ext cx="1892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26060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6F8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679192" y="3310128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across the care journey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35424" y="2377440"/>
            <a:ext cx="1892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6060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47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672584" y="3310128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audits completed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28816" y="2377440"/>
            <a:ext cx="1892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260604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B565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665976" y="3310128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ever sent to a server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This is not a concept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Unusual rigor for a tool this size.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48640" cy="548640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 at rest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18928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on every device. A lost phone is a non-event, not a breach.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2404872"/>
            <a:ext cx="548640" cy="548640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2547518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security audits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2697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and high finding documented and resolved — in public.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4360" y="3209544"/>
            <a:ext cx="548640" cy="548640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" y="3352190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1638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HIPAA safeguards mapped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35021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safeguards documented against §164.312(a)–(e).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4014216"/>
            <a:ext cx="548640" cy="54864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" y="4156862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968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Lifecycle-tested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25880" y="43068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8+ years of care data without failure.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Built to be trusted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BIGGER THAN AN 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defining a standard others can adopt.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Principles for Caregiving Software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citable, freely-adoptable standard for what software entrusted with a vulnerable person's life should be — nine principles, each verifiable.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the reference implementation. The standard is the lever — adopted by other vendors, cited by attorneys and advocates, it makes Care Guardian the point everyone organizes around.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03720" y="1783080"/>
            <a:ext cx="1005840" cy="1005840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5238" y="204459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standard, not a product pitch.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Why this is bigger than an app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GROWS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credibility flywheel — not an ad budget.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377440"/>
            <a:ext cx="457200" cy="457200"/>
          </a:xfrm>
          <a:prstGeom prst="ellipse">
            <a:avLst/>
          </a:prstGeom>
          <a:solidFill>
            <a:srgbClr val="3D7D9C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 the rigor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36499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&amp; Privacy Principles, in public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56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42032" y="2194560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377440"/>
            <a:ext cx="457200" cy="457200"/>
          </a:xfrm>
          <a:prstGeom prst="ellipse">
            <a:avLst/>
          </a:prstGeom>
          <a:solidFill>
            <a:srgbClr val="6F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33472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the professionals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336499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Elder-law attorneys &amp; care managers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79392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56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35424" y="2194560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93792" y="2377440"/>
            <a:ext cx="457200" cy="457200"/>
          </a:xfrm>
          <a:prstGeom prst="ellipse">
            <a:avLst/>
          </a:prstGeom>
          <a:solidFill>
            <a:srgbClr val="C47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26864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Families adopt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45152" y="336499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trusted recommendation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72784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56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28816" y="2194560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2377440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sp>
        <p:nvSpPr>
          <p:cNvPr id="24" name="Text 22"/>
          <p:cNvSpPr/>
          <p:nvPr/>
        </p:nvSpPr>
        <p:spPr>
          <a:xfrm>
            <a:off x="718718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20256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reinforced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38544" y="336499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experience flows back to pros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increases our standing as the reference. That is the goal — influence first, reach as a consequence.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How it grows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D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SURVIVES WITHOUT YOU FOREVER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core. Services, not data, pay the bills.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66928" cy="566928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761" y="17933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&amp; open-source core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9933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free forever and forkable. The family's tools never depend on our survival.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2633472"/>
            <a:ext cx="566928" cy="566928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61" y="2780873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1518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hosting &amp; support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298094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managed sync and support contracts for those who want them — the Red Hat model.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4360" y="3621024"/>
            <a:ext cx="566928" cy="566928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1" y="3768425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60273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State-package development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39684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state's Medicaid/elder-law content funded and maintained as a discrete deliverable.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Sustainability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BY SUBTRACTION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never be.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caregiver-surveillance platform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496312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1518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4505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 business — the data is never the product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85800" y="3209544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2841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16382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venture-funded, with no exit strategy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04164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87705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chasing scale at the cost of trust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A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what we refuse to be is how a privacy promise stays credible.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5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BE HONEST THAN IMPRESSIVE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 questions, named plainly.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" cy="914400"/>
          </a:xfrm>
          <a:prstGeom prst="rect">
            <a:avLst/>
          </a:prstGeom>
          <a:solidFill>
            <a:srgbClr val="3D7D9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measure impact without analytics?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proxy: principle adoptions, professional endorsements, pilot outcomes. We chose un-surveilled users over measurable ones, deliberately.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64008" cy="914400"/>
          </a:xfrm>
          <a:prstGeom prst="rect">
            <a:avLst/>
          </a:prstGeom>
          <a:solidFill>
            <a:srgbClr val="3D7D9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 a big player just copy it?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structurally can't — not without abandoning the data business model that funds them. The values are the moat.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64008" cy="914400"/>
          </a:xfrm>
          <a:prstGeom prst="rect">
            <a:avLst/>
          </a:prstGeom>
          <a:solidFill>
            <a:srgbClr val="3D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02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bus factor?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950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and why we're seeking co-maintainers and a contributor community. We name it because hiding it would be the warning sign.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Honest about hard things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CAN HELP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asking for — mostly not money.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01368"/>
            <a:ext cx="457200" cy="457200"/>
          </a:xfrm>
          <a:prstGeom prst="ellipse">
            <a:avLst/>
          </a:prstGeom>
          <a:solidFill>
            <a:srgbClr val="3D7D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202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647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211226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elder-law bar sections, care-manager networks, aging-services and legal-aid organizations — our distribution channel.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1600200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801368"/>
            <a:ext cx="457200" cy="457200"/>
          </a:xfrm>
          <a:prstGeom prst="ellipse">
            <a:avLst/>
          </a:prstGeom>
          <a:solidFill>
            <a:srgbClr val="6F8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9202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7647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flagship pilot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94960" y="211226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agency or legal-aid clinic willing to deploy and be a reference. Nothing de-risks us faster.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282696"/>
            <a:ext cx="457200" cy="457200"/>
          </a:xfrm>
          <a:prstGeom prst="ellipse">
            <a:avLst/>
          </a:prstGeom>
          <a:solidFill>
            <a:srgbClr val="C47E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0156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46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Endorsement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25880" y="359359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respected name willing to stand behind the Privacy Principles.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17720" y="3081528"/>
            <a:ext cx="3886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00600" y="3282696"/>
            <a:ext cx="457200" cy="457200"/>
          </a:xfrm>
          <a:prstGeom prst="ellipse">
            <a:avLst/>
          </a:prstGeom>
          <a:solidFill>
            <a:srgbClr val="B5657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40156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246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A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Deliverable-linked funding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394960" y="359359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one thing: a named security audit, the first state packages, a year of a part-time maintainer, the accessibility pass.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pPr algn="l" indent="0" marL="0">
              <a:buNone/>
            </a:pPr>
            <a:r>
              <a:rPr lang="en-US" sz="8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 ask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309360" y="128016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47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reference standard for software that holds a vulnerable life.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A9B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Adopted, cited, and forked — protecting families who never knew to ask whether their tools were safe.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Guardian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 Guardian — Funder Brief</dc:title>
  <dc:subject>PptxGenJS Presentation</dc:subject>
  <dc:creator>Care Guardian</dc:creator>
  <cp:lastModifiedBy>Care Guardian</cp:lastModifiedBy>
  <cp:revision>1</cp:revision>
  <dcterms:created xsi:type="dcterms:W3CDTF">2026-05-30T00:23:50Z</dcterms:created>
  <dcterms:modified xsi:type="dcterms:W3CDTF">2026-05-30T00:23:50Z</dcterms:modified>
</cp:coreProperties>
</file>